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2743200"/>
            <a:ext cx="9144000" cy="9144000"/>
          </a:xfrm>
          <a:prstGeom prst="ellipse">
            <a:avLst/>
          </a:prstGeom>
          <a:solidFill>
            <a:srgbClr val="1565C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6400800" cy="6400800"/>
          </a:xfrm>
          <a:prstGeom prst="ellipse">
            <a:avLst/>
          </a:prstGeom>
          <a:solidFill>
            <a:srgbClr val="0069D1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1828800"/>
            <a:ext cx="3657600" cy="3657600"/>
          </a:xfrm>
          <a:prstGeom prst="ellipse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4572000"/>
            <a:ext cx="4572000" cy="4572000"/>
          </a:xfrm>
          <a:prstGeom prst="ellipse">
            <a:avLst/>
          </a:prstGeom>
          <a:solidFill>
            <a:srgbClr val="0069D1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889504" y="914400"/>
            <a:ext cx="64008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46704" y="1234440"/>
            <a:ext cx="5486400" cy="39319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SINTARIS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3F2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d.o.o.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346704" y="3931920"/>
            <a:ext cx="5486400" cy="12801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46704" y="39319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Бизнес-решения на основе ИИ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Трансформация бизнеса через интеллектуальную автоматизацию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Бизнес-экосистема SINTARIS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базовых технологий до бизнес-решений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18304" y="2926080"/>
            <a:ext cx="2743200" cy="1828800"/>
          </a:xfrm>
          <a:prstGeom prst="ellipse">
            <a:avLst/>
          </a:prstGeom>
          <a:solidFill>
            <a:srgbClr val="0B3A6E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18304" y="2926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ИИ &amp; ДАННЫЕ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ЯДРО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18304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 • RAG • Векторные БД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92624" y="1883664"/>
            <a:ext cx="2194560" cy="1371600"/>
          </a:xfrm>
          <a:prstGeom prst="roundRect">
            <a:avLst/>
          </a:prstGeom>
          <a:solidFill>
            <a:srgbClr val="0069D1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84064" y="20208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Консалтинг 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Аналитика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4064" y="261518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Стратегия • Анализ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Оптимизация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68305" y="3858768"/>
            <a:ext cx="2194560" cy="1371600"/>
          </a:xfrm>
          <a:prstGeom prst="roundRect">
            <a:avLst/>
          </a:prstGeom>
          <a:solidFill>
            <a:srgbClr val="0069D1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59745" y="39959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Внедрение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59745" y="459028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Индивидуальные решения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Интеграция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16943" y="3858768"/>
            <a:ext cx="2194560" cy="1371600"/>
          </a:xfrm>
          <a:prstGeom prst="roundRect">
            <a:avLst/>
          </a:prstGeom>
          <a:solidFill>
            <a:srgbClr val="0069D1"/>
          </a:solidFill>
          <a:ln/>
          <a:effectLst>
            <a:outerShdw sx="100000" sy="100000" kx="0" ky="0" algn="bl" rotWithShape="0" blurRad="762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08383" y="39959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Продукты 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Платформы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08383" y="459028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Готовые решения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SaaS-сервисы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БИЗНЕС-ОБЛАСТИ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1691640"/>
            <a:ext cx="2286000" cy="502920"/>
          </a:xfrm>
          <a:prstGeom prst="roundRect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7373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Управление знаниями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2286000" cy="502920"/>
          </a:xfrm>
          <a:prstGeom prst="round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331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Обслуживание клиентов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2286000" cy="502920"/>
          </a:xfrm>
          <a:prstGeom prst="roundRect">
            <a:avLst/>
          </a:prstGeom>
          <a:solidFill>
            <a:srgbClr val="4CAF5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9260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7240" y="2880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Маркетинг и продажи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474720"/>
            <a:ext cx="2286000" cy="502920"/>
          </a:xfrm>
          <a:prstGeom prst="roundRect">
            <a:avLst/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520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7240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Социальные сети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069080"/>
            <a:ext cx="2286000" cy="502920"/>
          </a:xfrm>
          <a:prstGeom prst="round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1148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7240" y="4069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Обработка данных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2286000" cy="502920"/>
          </a:xfrm>
          <a:prstGeom prst="roundRect">
            <a:avLst/>
          </a:prstGeom>
          <a:solidFill>
            <a:srgbClr val="4CAF50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7091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77240" y="4663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Внутренняя автоматизация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5257800"/>
            <a:ext cx="2286000" cy="502920"/>
          </a:xfrm>
          <a:prstGeom prst="roundRect">
            <a:avLst/>
          </a:prstGeom>
          <a:solidFill>
            <a:srgbClr val="4CAF50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53035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7240" y="5257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Поиск и аналитика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28632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КЛЮЧЕВЫЕ СЦЕНАРИИ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628632" y="1691640"/>
            <a:ext cx="2286000" cy="438912"/>
          </a:xfrm>
          <a:prstGeom prst="roundRect">
            <a:avLst/>
          </a:prstGeom>
          <a:solidFill>
            <a:srgbClr val="00BCD4"/>
          </a:solidFill>
          <a:ln/>
        </p:spPr>
      </p:sp>
      <p:sp>
        <p:nvSpPr>
          <p:cNvPr id="41" name="Text 39"/>
          <p:cNvSpPr/>
          <p:nvPr/>
        </p:nvSpPr>
        <p:spPr>
          <a:xfrm>
            <a:off x="9720072" y="170992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85832" y="16916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ИИ-чатботы и ассистенты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628632" y="2194560"/>
            <a:ext cx="2286000" cy="438912"/>
          </a:xfrm>
          <a:prstGeom prst="roundRect">
            <a:avLst/>
          </a:prstGeom>
          <a:solidFill>
            <a:srgbClr val="00BCD4"/>
          </a:solidFill>
          <a:ln/>
        </p:spPr>
      </p:sp>
      <p:sp>
        <p:nvSpPr>
          <p:cNvPr id="44" name="Text 42"/>
          <p:cNvSpPr/>
          <p:nvPr/>
        </p:nvSpPr>
        <p:spPr>
          <a:xfrm>
            <a:off x="9720072" y="221284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085832" y="21945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ИИ-сотрудники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628632" y="2697480"/>
            <a:ext cx="2286000" cy="438912"/>
          </a:xfrm>
          <a:prstGeom prst="roundRect">
            <a:avLst/>
          </a:prstGeom>
          <a:solidFill>
            <a:srgbClr val="00BCD4"/>
          </a:solidFill>
          <a:ln/>
        </p:spPr>
      </p:sp>
      <p:sp>
        <p:nvSpPr>
          <p:cNvPr id="47" name="Text 45"/>
          <p:cNvSpPr/>
          <p:nvPr/>
        </p:nvSpPr>
        <p:spPr>
          <a:xfrm>
            <a:off x="9720072" y="271576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85832" y="26974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Генерация контента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628632" y="3200400"/>
            <a:ext cx="2286000" cy="438912"/>
          </a:xfrm>
          <a:prstGeom prst="roundRect">
            <a:avLst/>
          </a:prstGeom>
          <a:solidFill>
            <a:srgbClr val="00BCD4"/>
          </a:solidFill>
          <a:ln/>
        </p:spPr>
      </p:sp>
      <p:sp>
        <p:nvSpPr>
          <p:cNvPr id="50" name="Text 48"/>
          <p:cNvSpPr/>
          <p:nvPr/>
        </p:nvSpPr>
        <p:spPr>
          <a:xfrm>
            <a:off x="9720072" y="321868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085832" y="32004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Доступ к базе знаний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628632" y="3703320"/>
            <a:ext cx="2286000" cy="438912"/>
          </a:xfrm>
          <a:prstGeom prst="roundRect">
            <a:avLst/>
          </a:prstGeom>
          <a:solidFill>
            <a:srgbClr val="00BCD4"/>
          </a:solidFill>
          <a:ln/>
        </p:spPr>
      </p:sp>
      <p:sp>
        <p:nvSpPr>
          <p:cNvPr id="53" name="Text 51"/>
          <p:cNvSpPr/>
          <p:nvPr/>
        </p:nvSpPr>
        <p:spPr>
          <a:xfrm>
            <a:off x="9720072" y="372160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085832" y="37033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Управление мероприятиями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628632" y="4206240"/>
            <a:ext cx="2286000" cy="438912"/>
          </a:xfrm>
          <a:prstGeom prst="roundRect">
            <a:avLst/>
          </a:prstGeom>
          <a:solidFill>
            <a:srgbClr val="00BCD4"/>
          </a:solidFill>
          <a:ln/>
        </p:spPr>
      </p:sp>
      <p:sp>
        <p:nvSpPr>
          <p:cNvPr id="56" name="Text 54"/>
          <p:cNvSpPr/>
          <p:nvPr/>
        </p:nvSpPr>
        <p:spPr>
          <a:xfrm>
            <a:off x="9720072" y="422452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085832" y="420624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Интеграция с CRM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628632" y="4709160"/>
            <a:ext cx="2286000" cy="438912"/>
          </a:xfrm>
          <a:prstGeom prst="roundRect">
            <a:avLst/>
          </a:prstGeom>
          <a:solidFill>
            <a:srgbClr val="00BCD4"/>
          </a:solidFill>
          <a:ln/>
        </p:spPr>
      </p:sp>
      <p:sp>
        <p:nvSpPr>
          <p:cNvPr id="59" name="Text 57"/>
          <p:cNvSpPr/>
          <p:nvPr/>
        </p:nvSpPr>
        <p:spPr>
          <a:xfrm>
            <a:off x="9720072" y="472744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🕷️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085832" y="47091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Парсинг данных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628632" y="5212080"/>
            <a:ext cx="2286000" cy="438912"/>
          </a:xfrm>
          <a:prstGeom prst="roundRect">
            <a:avLst/>
          </a:prstGeom>
          <a:solidFill>
            <a:srgbClr val="00BCD4"/>
          </a:solidFill>
          <a:ln/>
        </p:spPr>
      </p:sp>
      <p:sp>
        <p:nvSpPr>
          <p:cNvPr id="62" name="Text 60"/>
          <p:cNvSpPr/>
          <p:nvPr/>
        </p:nvSpPr>
        <p:spPr>
          <a:xfrm>
            <a:off x="9720072" y="523036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085832" y="52120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Авто-публикация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628632" y="5715000"/>
            <a:ext cx="2286000" cy="438912"/>
          </a:xfrm>
          <a:prstGeom prst="roundRect">
            <a:avLst/>
          </a:prstGeom>
          <a:solidFill>
            <a:srgbClr val="00BCD4"/>
          </a:solidFill>
          <a:ln/>
        </p:spPr>
      </p:sp>
      <p:sp>
        <p:nvSpPr>
          <p:cNvPr id="65" name="Text 63"/>
          <p:cNvSpPr/>
          <p:nvPr/>
        </p:nvSpPr>
        <p:spPr>
          <a:xfrm>
            <a:off x="9720072" y="573328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085832" y="57150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Умные уведомления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74320" y="5943600"/>
            <a:ext cx="5486400" cy="6400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5989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1FA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ТЕХНОЛОГИЧЕСКИЙ СТЕК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65760" y="6263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GPT • Claude • Yandex GPT • RAG-системы • Python • JavaScript • PostgreSQL • N8N • Salebot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28232" y="5943600"/>
            <a:ext cx="5486400" cy="6400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19672" y="5989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ЦЕННОСТНОЕ ПРЕДЛОЖЕНИЕ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519672" y="6263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Экономия времени 60-80% • Окупаемость за 1-3 месяца • Автоматизация 24/7 • Масштабируемые решения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Наши услуги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Комплексные ИИ-решения для вашего бизнеса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0069D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Консалтинг и аналитика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Анализ бизнес-процессов и стратегия интеграции ИИ. Выявляем возможности автоматизации и проектируем оптимальные решения.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8308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Внедрение проектов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1945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Комплексная разработка и развертывание решений в области ИИ и обработки данных, адаптированных под ваши задачи.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1783080"/>
            <a:ext cx="457200" cy="45720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23960" y="1783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Готовые продукты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1945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Предварительно разработанные ИИ-платформы и ассистенты, которые можно настроить и развернуть быстро для немедленных результатов.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11274552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Ключевые преимущества: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Индивидуальный подход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 каждому клиенту
</a:t>
            </a:r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Быстрое внедрение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окупаемость
</a:t>
            </a:r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Полная поддержка </a:t>
            </a:r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всех этапах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Бизнес-области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Решения для различных аспектов вашего бизнеса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Базы знаний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Создание и управление корпоративными знаниями. ИИ-поиск и интеллектуальная классификация документов.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83080"/>
            <a:ext cx="457200" cy="457200"/>
          </a:xfrm>
          <a:prstGeom prst="ellipse">
            <a:avLst/>
          </a:prstGeom>
          <a:solidFill>
            <a:srgbClr val="0069D1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Обслуживание клиентов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1945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Автоматизация поддержки 24/7. Интеллектуальные чатботы и виртуальные ассистенты.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1783080"/>
            <a:ext cx="457200" cy="45720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23960" y="17830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Маркетинг и продажи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1945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Автоматизация маркетинговых кампаний, лид-генерация и персонализированные коммуникации.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886200"/>
            <a:ext cx="457200" cy="45720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886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Социальные сети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Автоматизация публикаций, мониторинг упоминаний и взаимодействие с аудиторией.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74904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3886200"/>
            <a:ext cx="457200" cy="45720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3886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Обработка данных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42976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Извлечение, обработка и анализ больших объемов данных с применением ИИ.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3749040"/>
            <a:ext cx="3566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75320" y="38862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⚙️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23960" y="3886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Внутренние процессы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2976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Автоматизация рутинных операций, документооборота и бизнес-процессов.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Сценарии использования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Практическое применение ИИ-технологий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7432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ИИ-чатботы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Умные ассистенты для сайта, мессенджеров, соцсетей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7432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7764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ИИ-сотрудники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Виртуальные агенты для автоматизации бизнес-процессов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7432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Генерация контента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Автоматическое создание текстов, статей, описаний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1645920"/>
            <a:ext cx="27432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3836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Доступ к знаниям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8972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Интеллектуальный поиск в корпоративных базах данных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27432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9728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Управление мероприятиями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Автоматизация записи, напоминаний и уведомлений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200400"/>
            <a:ext cx="27432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290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97764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Интеграция систем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840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Связь CRM, ERP и других бизнес-систем через ИИ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200400"/>
            <a:ext cx="27432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🕷️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85800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Парсинг данных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840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Автоматический сбор информации из веб-источников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98280" y="3200400"/>
            <a:ext cx="27432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897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📤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73836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Авто-публикация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89720" y="3840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Автоматическое размещение контента в соцсетях и каналах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Технологический стек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Современные технологии для надежных решений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566160" cy="20116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A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🤖 ИИ и LLM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OpenAI GPT-4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Claude (Anthropic)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Yandex GPT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Llama 2/3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RAG-системы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Векторные базы данных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20116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9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💻 Языки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286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Python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JavaScript/TypeScript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Node.js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Java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65592" y="1645920"/>
            <a:ext cx="3566160" cy="2011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🗄️ Базы данных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48472" y="2286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MongoDB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ChromaDB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Pinecone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3566160" cy="20116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⚙️ Автоматизация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N8N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Salebot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Make (Integromat)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Zapier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Apache Airflow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3931920"/>
            <a:ext cx="3566160" cy="201168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🔗 Интеграции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572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Telegram Bot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WhatsApp Business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APIs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 APIs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REST/GraphQL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65592" y="3931920"/>
            <a:ext cx="3566160" cy="20116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A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☁️ Облако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8472" y="4572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Cloud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 Azure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DigitalOcean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Heroku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Наши продукты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Готовые решения для быстрого старта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83080" y="1783080"/>
            <a:ext cx="914400" cy="914400"/>
          </a:xfrm>
          <a:prstGeom prst="ellipse">
            <a:avLst/>
          </a:prstGeom>
          <a:solidFill>
            <a:srgbClr val="0069D1"/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ИИ-ассистент для бизнеса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Готовая платформа для создания корпоративных ИИ-помощников с интеграцией в базы знаний, CRM и другие системы.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32004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6634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RAG-система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Мультиканальность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Аналитика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23560" y="1783080"/>
            <a:ext cx="914400" cy="9144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48056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Чат-бот конструктор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383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Простой инструмент для создания чат-ботов без программирования. Поддержка Telegram, WhatsApp, веб-сайтов.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4572000"/>
            <a:ext cx="32004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6634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No-code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Шаблоны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Интеграции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38160" y="16459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64040" y="1783080"/>
            <a:ext cx="914400" cy="91440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1" name="Text 19"/>
          <p:cNvSpPr/>
          <p:nvPr/>
        </p:nvSpPr>
        <p:spPr>
          <a:xfrm>
            <a:off x="946404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3210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Контент-фабрика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3383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Автоматизированная система для генерации, проверки и публикации контента в соцсетях и на сайтах.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21040" y="4572000"/>
            <a:ext cx="320040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6634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Генерация ИИ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Планирование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Мультиплатформа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Целевые отрасли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Опыт работы в различных сферах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Корпоративный сектор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Автоматизация для крупных компаний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6908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Решения для интернет-магазинов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4944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Здравоохранение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ИИ для медицинских организаций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16459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82980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Образование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2980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Платформы для обучения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18872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Финансы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Финтех и банковские решения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0175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290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06908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Производство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6908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Промышленная автоматизация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4944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Логистика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Оптимизация поставок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98280" y="30175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897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🏨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9829800" y="3154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HoReCa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2980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Гостинично-ресторанный бизнес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3891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📰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1188720" y="4526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Медиа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88720" y="4937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СМИ и издательства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37560" y="43891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42900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4069080" y="4526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Недвижимость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69080" y="4937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Управление объектами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43891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0936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6949440" y="4526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Консалтинг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49440" y="4937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Профессиональные услуги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098280" y="4389120"/>
            <a:ext cx="2743200" cy="11887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18972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9829800" y="4526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Креатив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829800" y="4937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Дизайн и маркетинг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Почему SINTARIS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Ваш надежный партнер в ИИ-трансформации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98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83080"/>
            <a:ext cx="548640" cy="54864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828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Быстрое внедрение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Запуск первых решений за 2-4 недели. Используем готовые компоненты и проверенные подходы для ускорения разработки.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74920" y="1828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Окупаемость 1-3 месяца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2468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Быстрый возврат инвестиций благодаря автоматизации процессов и снижению операционных затрат на 60-80%.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9D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1783080"/>
            <a:ext cx="548640" cy="548640"/>
          </a:xfrm>
          <a:prstGeom prst="ellipse">
            <a:avLst/>
          </a:prstGeom>
          <a:solidFill>
            <a:srgbClr val="0069D1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15400" y="1828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D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Индивидуальный подход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468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Тщательный анализ ваших задач и бизнес-процессов. Решения разрабатываются под конкретные цели вашей компании.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977640"/>
            <a:ext cx="548640" cy="54864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4023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Полный цикл поддержки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663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консультации и разработки до внедрения и технической поддержки. Обучение персонала и документация включены.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384048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3977640"/>
            <a:ext cx="548640" cy="54864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74920" y="4023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Масштабируемость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34840" y="4663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Решения растут вместе с вашим бизнесом. Гибкая архитектура позволяет легко добавлять новые функции и интеграции.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384048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75320" y="397764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915400" y="40233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Надежность и безопасность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75320" y="4663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Защита данных на всех уровнях. Соответствие стандартам безопасности и конфиденциальности информации.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69D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601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Начните ИИ-трансформацию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вашего бизнеса сегодня!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889504" y="3200400"/>
            <a:ext cx="6400800" cy="2286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90500" dist="635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889504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A6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Свяжитесь с нами: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46704" y="3931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9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Email: </a:t>
            </a:r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info@sintaris.com
</a:t>
            </a:r>
            <a:pPr algn="ctr" indent="0" marL="0">
              <a:buNone/>
            </a:pPr>
            <a:r>
              <a:rPr lang="en-US" sz="1400" dirty="0">
                <a:solidFill>
                  <a:srgbClr val="0069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Web: </a:t>
            </a:r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www.sintaris.com
</a:t>
            </a:r>
            <a:pPr algn="ctr" indent="0" marL="0">
              <a:buNone/>
            </a:pPr>
            <a:r>
              <a:rPr lang="en-US" sz="1400" dirty="0">
                <a:solidFill>
                  <a:srgbClr val="0069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Telegram: </a:t>
            </a:r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@sintaris_support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Бесплатная консультация и демонстрация возможностей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SINTARIS d.o.o.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компании SINTARIS</dc:title>
  <dc:subject>Бизнес-решения на основе ИИ</dc:subject>
  <dc:creator>SINTARIS d.o.o.</dc:creator>
  <cp:lastModifiedBy>SINTARIS d.o.o.</cp:lastModifiedBy>
  <cp:revision>1</cp:revision>
  <dcterms:created xsi:type="dcterms:W3CDTF">2026-01-08T18:44:22Z</dcterms:created>
  <dcterms:modified xsi:type="dcterms:W3CDTF">2026-01-08T18:44:22Z</dcterms:modified>
</cp:coreProperties>
</file>