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000" y="198000"/>
            <a:ext cx="11790000" cy="6462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6000" y="306000"/>
            <a:ext cx="11574000" cy="6246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6000" y="342000"/>
            <a:ext cx="450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1">
                <a:solidFill>
                  <a:srgbClr val="BF995E"/>
                </a:solidFill>
                <a:latin typeface="Aptos"/>
              </a:rPr>
              <a:t>01 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594000"/>
            <a:ext cx="5256000" cy="79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50" b="1">
                <a:solidFill>
                  <a:srgbClr val="1D1F26"/>
                </a:solidFill>
                <a:latin typeface="Bahnschrift"/>
              </a:rPr>
              <a:t>Ручное управление становится самым дорогим ограничением роста.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94000"/>
            <a:ext cx="774000" cy="36000"/>
          </a:xfrm>
          <a:prstGeom prst="rect">
            <a:avLst/>
          </a:prstGeom>
          <a:solidFill>
            <a:srgbClr val="BF995E"/>
          </a:solidFill>
          <a:ln>
            <a:solidFill>
              <a:srgbClr val="BF9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000" y="1692000"/>
            <a:ext cx="5202000" cy="7063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30" b="0" dirty="0" err="1">
                <a:solidFill>
                  <a:srgbClr val="5C5866"/>
                </a:solidFill>
                <a:latin typeface="Aptos"/>
              </a:rPr>
              <a:t>Когда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продажи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,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коммуникации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и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клиентский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путь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держатся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lang="ru-RU" sz="1530" b="0" dirty="0">
                <a:solidFill>
                  <a:srgbClr val="5C5866"/>
                </a:solidFill>
                <a:latin typeface="Aptos"/>
              </a:rPr>
              <a:t>только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на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людях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,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бизнес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начинает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терять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скорость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,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деньги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 и </a:t>
            </a:r>
            <a:r>
              <a:rPr sz="1530" b="0" dirty="0" err="1">
                <a:solidFill>
                  <a:srgbClr val="5C5866"/>
                </a:solidFill>
                <a:latin typeface="Aptos"/>
              </a:rPr>
              <a:t>управляемость</a:t>
            </a:r>
            <a:r>
              <a:rPr sz="1530" b="0" dirty="0">
                <a:solidFill>
                  <a:srgbClr val="5C5866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7000" y="2916000"/>
            <a:ext cx="5238000" cy="720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0001" y="3015000"/>
            <a:ext cx="4896000" cy="3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20" b="1" dirty="0" err="1">
                <a:solidFill>
                  <a:srgbClr val="1D1F26"/>
                </a:solidFill>
                <a:latin typeface="Aptos"/>
              </a:rPr>
              <a:t>Бизнесу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нужен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не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ещё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один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инструмент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.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Ему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нужна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новая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операционная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логика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001" y="4528099"/>
            <a:ext cx="5058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замедленная</a:t>
            </a:r>
            <a:r>
              <a:rPr dirty="0"/>
              <a:t> </a:t>
            </a:r>
            <a:r>
              <a:rPr dirty="0" err="1"/>
              <a:t>реакция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заявки</a:t>
            </a:r>
            <a:endParaRPr dirty="0"/>
          </a:p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пропущенные</a:t>
            </a:r>
            <a:r>
              <a:rPr dirty="0"/>
              <a:t> </a:t>
            </a:r>
            <a:r>
              <a:rPr dirty="0" err="1"/>
              <a:t>касания</a:t>
            </a:r>
            <a:r>
              <a:rPr dirty="0"/>
              <a:t> и </a:t>
            </a:r>
            <a:r>
              <a:rPr dirty="0" err="1"/>
              <a:t>утечка</a:t>
            </a:r>
            <a:r>
              <a:rPr dirty="0"/>
              <a:t> </a:t>
            </a:r>
            <a:r>
              <a:rPr dirty="0" err="1"/>
              <a:t>повторной</a:t>
            </a:r>
            <a:r>
              <a:rPr dirty="0"/>
              <a:t> </a:t>
            </a:r>
            <a:r>
              <a:rPr dirty="0" err="1"/>
              <a:t>выручки</a:t>
            </a:r>
            <a:endParaRPr dirty="0"/>
          </a:p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собственник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операционки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развития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109199" y="277200"/>
            <a:ext cx="5637600" cy="6231600"/>
          </a:xfrm>
          <a:prstGeom prst="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lient_main_problem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99" y="1327500"/>
            <a:ext cx="5508000" cy="413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000" y="198000"/>
            <a:ext cx="11790000" cy="6462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6000" y="306000"/>
            <a:ext cx="11574000" cy="6246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6000" y="342000"/>
            <a:ext cx="450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1">
                <a:solidFill>
                  <a:srgbClr val="BF995E"/>
                </a:solidFill>
                <a:latin typeface="Aptos"/>
              </a:rPr>
              <a:t>02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594000"/>
            <a:ext cx="5256000" cy="79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50" b="1">
                <a:solidFill>
                  <a:srgbClr val="1D1F26"/>
                </a:solidFill>
                <a:latin typeface="Bahnschrift"/>
              </a:rPr>
              <a:t>SINTARIS создаёт не набор AI-инструментов, а управляемую систему роста.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94000"/>
            <a:ext cx="774000" cy="36000"/>
          </a:xfrm>
          <a:prstGeom prst="rect">
            <a:avLst/>
          </a:prstGeom>
          <a:solidFill>
            <a:srgbClr val="BF995E"/>
          </a:solidFill>
          <a:ln>
            <a:solidFill>
              <a:srgbClr val="BF9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000" y="1692000"/>
            <a:ext cx="5202000" cy="6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30" b="0">
                <a:solidFill>
                  <a:srgbClr val="5C5866"/>
                </a:solidFill>
                <a:latin typeface="Aptos"/>
              </a:rPr>
              <a:t>Мы соединяем ключевые процессы бизнеса в единый AI-контур: коммуникации, follow-up, контент, продажи и работу со знаниями.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000" y="3087000"/>
            <a:ext cx="5238000" cy="720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9000" y="3069000"/>
            <a:ext cx="4896000" cy="3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20" b="1" dirty="0" err="1">
                <a:solidFill>
                  <a:srgbClr val="1D1F26"/>
                </a:solidFill>
                <a:latin typeface="Aptos"/>
              </a:rPr>
              <a:t>Это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не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автоматизация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ради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автоматизации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.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Это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архитектура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,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которая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поддерживает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масштабирование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" y="4538606"/>
            <a:ext cx="5058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единая</a:t>
            </a:r>
            <a:r>
              <a:rPr dirty="0"/>
              <a:t> </a:t>
            </a:r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хаотичного</a:t>
            </a:r>
            <a:r>
              <a:rPr dirty="0"/>
              <a:t> </a:t>
            </a:r>
            <a:r>
              <a:rPr dirty="0" err="1"/>
              <a:t>набора</a:t>
            </a:r>
            <a:r>
              <a:rPr dirty="0"/>
              <a:t> </a:t>
            </a:r>
            <a:r>
              <a:rPr dirty="0" err="1"/>
              <a:t>сервисов</a:t>
            </a:r>
            <a:endParaRPr dirty="0"/>
          </a:p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персональная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реальную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бизнеса</a:t>
            </a:r>
            <a:endParaRPr dirty="0"/>
          </a:p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интеграция</a:t>
            </a:r>
            <a:r>
              <a:rPr dirty="0"/>
              <a:t> Telegram, </a:t>
            </a:r>
            <a:r>
              <a:rPr dirty="0" err="1"/>
              <a:t>сайта</a:t>
            </a:r>
            <a:r>
              <a:rPr dirty="0"/>
              <a:t>, CRM, email и </a:t>
            </a:r>
            <a:r>
              <a:rPr dirty="0" err="1"/>
              <a:t>мессенджеров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109199" y="277200"/>
            <a:ext cx="5637600" cy="6231600"/>
          </a:xfrm>
          <a:prstGeom prst="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rtner_economics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99" y="1327500"/>
            <a:ext cx="5508000" cy="413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000" y="198000"/>
            <a:ext cx="11790000" cy="6462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6000" y="306000"/>
            <a:ext cx="11574000" cy="6246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6000" y="342000"/>
            <a:ext cx="450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1">
                <a:solidFill>
                  <a:srgbClr val="BF995E"/>
                </a:solidFill>
                <a:latin typeface="Aptos"/>
              </a:rPr>
              <a:t>03 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594000"/>
            <a:ext cx="5256000" cy="79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50" b="1">
                <a:solidFill>
                  <a:srgbClr val="1D1F26"/>
                </a:solidFill>
                <a:latin typeface="Bahnschrift"/>
              </a:rPr>
              <a:t>Два уровня работы с бизнесом.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94000"/>
            <a:ext cx="774000" cy="36000"/>
          </a:xfrm>
          <a:prstGeom prst="rect">
            <a:avLst/>
          </a:prstGeom>
          <a:solidFill>
            <a:srgbClr val="BF995E"/>
          </a:solidFill>
          <a:ln>
            <a:solidFill>
              <a:srgbClr val="BF9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000" y="1692000"/>
            <a:ext cx="5202000" cy="6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30" b="0">
                <a:solidFill>
                  <a:srgbClr val="5C5866"/>
                </a:solidFill>
                <a:latin typeface="Aptos"/>
              </a:rPr>
              <a:t>Мы входим либо через стратегическую диагностику, либо через внедрение персональных решений под ключ.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000" y="2951999"/>
            <a:ext cx="2520000" cy="2106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000" y="3095999"/>
            <a:ext cx="2232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>
                <a:solidFill>
                  <a:srgbClr val="1D1F26"/>
                </a:solidFill>
                <a:latin typeface="Bahnschrift"/>
              </a:rPr>
              <a:t>Консалтинг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984" y="3679151"/>
            <a:ext cx="2232000" cy="12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 dirty="0" err="1">
                <a:solidFill>
                  <a:srgbClr val="5C5866"/>
                </a:solidFill>
                <a:latin typeface="Aptos"/>
              </a:rPr>
              <a:t>Диагностика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процессов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,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выявление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точек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потерь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и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проектирование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архитектуры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автоматизации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с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понятными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приоритетами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5968" y="2916000"/>
            <a:ext cx="2520000" cy="2106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8000" y="3095999"/>
            <a:ext cx="2232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>
                <a:solidFill>
                  <a:srgbClr val="1D1F26"/>
                </a:solidFill>
                <a:latin typeface="Bahnschrift"/>
              </a:rPr>
              <a:t>Персональные решения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3679151"/>
            <a:ext cx="2232000" cy="12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 dirty="0">
                <a:solidFill>
                  <a:srgbClr val="5C5866"/>
                </a:solidFill>
                <a:latin typeface="Aptos"/>
              </a:rPr>
              <a:t>AI-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консультанты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,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контентные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и sales-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агенты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, follow-up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системы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, AI-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справочники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и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интеграции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в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действующий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5C5866"/>
                </a:solidFill>
                <a:latin typeface="Aptos"/>
              </a:rPr>
              <a:t>бизнес-контур</a:t>
            </a:r>
            <a:r>
              <a:rPr sz="1320" b="0" dirty="0">
                <a:solidFill>
                  <a:srgbClr val="5C5866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000" y="5382000"/>
            <a:ext cx="972000" cy="342000"/>
          </a:xfrm>
          <a:prstGeom prst="roundRect">
            <a:avLst/>
          </a:prstGeom>
          <a:solidFill>
            <a:srgbClr val="F0E9F7"/>
          </a:solidFill>
          <a:ln>
            <a:solidFill>
              <a:srgbClr val="F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00" y="5439600"/>
            <a:ext cx="792000" cy="1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04BA4"/>
                </a:solidFill>
                <a:latin typeface="Aptos"/>
              </a:rPr>
              <a:t>Стратегия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8800" y="5382000"/>
            <a:ext cx="972000" cy="342000"/>
          </a:xfrm>
          <a:prstGeom prst="roundRect">
            <a:avLst/>
          </a:prstGeom>
          <a:solidFill>
            <a:srgbClr val="F0E9F7"/>
          </a:solidFill>
          <a:ln>
            <a:solidFill>
              <a:srgbClr val="F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8800" y="5439600"/>
            <a:ext cx="792000" cy="1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04BA4"/>
                </a:solidFill>
                <a:latin typeface="Aptos"/>
              </a:rPr>
              <a:t>Архитектура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31600" y="5382000"/>
            <a:ext cx="972000" cy="342000"/>
          </a:xfrm>
          <a:prstGeom prst="roundRect">
            <a:avLst/>
          </a:prstGeom>
          <a:solidFill>
            <a:srgbClr val="F0E9F7"/>
          </a:solidFill>
          <a:ln>
            <a:solidFill>
              <a:srgbClr val="F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1600" y="5439600"/>
            <a:ext cx="792000" cy="1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04BA4"/>
                </a:solidFill>
                <a:latin typeface="Aptos"/>
              </a:rPr>
              <a:t>Внедрение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4400" y="5382000"/>
            <a:ext cx="1026000" cy="342000"/>
          </a:xfrm>
          <a:prstGeom prst="roundRect">
            <a:avLst/>
          </a:prstGeom>
          <a:solidFill>
            <a:srgbClr val="F0E9F7"/>
          </a:solidFill>
          <a:ln>
            <a:solidFill>
              <a:srgbClr val="F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400" y="5439600"/>
            <a:ext cx="846000" cy="1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04BA4"/>
                </a:solidFill>
                <a:latin typeface="Aptos"/>
              </a:rPr>
              <a:t>Сопровождение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9199" y="277200"/>
            <a:ext cx="5637600" cy="6231600"/>
          </a:xfrm>
          <a:prstGeom prst="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99" y="638999"/>
            <a:ext cx="5508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000" y="198000"/>
            <a:ext cx="11790000" cy="6462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6000" y="306000"/>
            <a:ext cx="11574000" cy="6246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6000" y="342000"/>
            <a:ext cx="450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1">
                <a:solidFill>
                  <a:srgbClr val="BF995E"/>
                </a:solidFill>
                <a:latin typeface="Aptos"/>
              </a:rPr>
              <a:t>04 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594000"/>
            <a:ext cx="5256000" cy="79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50" b="1">
                <a:solidFill>
                  <a:srgbClr val="1D1F26"/>
                </a:solidFill>
                <a:latin typeface="Bahnschrift"/>
              </a:rPr>
              <a:t>Клиент получает более сильную операционную модель.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94000"/>
            <a:ext cx="774000" cy="36000"/>
          </a:xfrm>
          <a:prstGeom prst="rect">
            <a:avLst/>
          </a:prstGeom>
          <a:solidFill>
            <a:srgbClr val="BF995E"/>
          </a:solidFill>
          <a:ln>
            <a:solidFill>
              <a:srgbClr val="BF9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000" y="1692000"/>
            <a:ext cx="5202000" cy="6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30" b="0">
                <a:solidFill>
                  <a:srgbClr val="5C5866"/>
                </a:solidFill>
                <a:latin typeface="Aptos"/>
              </a:rPr>
              <a:t>Главный эффект внедрения: бизнес перестаёт держаться на усилии и начинает опираться на систему.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000" y="2322000"/>
            <a:ext cx="1602000" cy="1026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1999" y="2447999"/>
            <a:ext cx="1350001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50" b="1">
                <a:solidFill>
                  <a:srgbClr val="604BA4"/>
                </a:solidFill>
                <a:latin typeface="Bahnschrift"/>
              </a:rPr>
              <a:t>30–70%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999" y="2844000"/>
            <a:ext cx="1350001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5866"/>
                </a:solidFill>
                <a:latin typeface="Aptos"/>
              </a:rPr>
              <a:t>снижение ручных операций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322000"/>
            <a:ext cx="1602000" cy="1026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11999" y="2447999"/>
            <a:ext cx="1350001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50" b="1">
                <a:solidFill>
                  <a:srgbClr val="604BA4"/>
                </a:solidFill>
                <a:latin typeface="Bahnschrift"/>
              </a:rPr>
              <a:t>40–60%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1999" y="2844000"/>
            <a:ext cx="1350001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5866"/>
                </a:solidFill>
                <a:latin typeface="Aptos"/>
              </a:rPr>
              <a:t>снижение рутинной нагрузки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6000" y="2322000"/>
            <a:ext cx="1602000" cy="1026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1999" y="2447999"/>
            <a:ext cx="1350001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50" b="1">
                <a:solidFill>
                  <a:srgbClr val="604BA4"/>
                </a:solidFill>
                <a:latin typeface="Bahnschrift"/>
              </a:rPr>
              <a:t>до 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1999" y="2844000"/>
            <a:ext cx="1350001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60" b="0">
                <a:solidFill>
                  <a:srgbClr val="5C5866"/>
                </a:solidFill>
                <a:latin typeface="Aptos"/>
              </a:rPr>
              <a:t>экономия времени на типовых задачах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000" y="3636000"/>
            <a:ext cx="5076000" cy="151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10">
                <a:solidFill>
                  <a:srgbClr val="1D1F26"/>
                </a:solidFill>
                <a:latin typeface="Aptos"/>
              </a:defRPr>
            </a:pPr>
            <a:r>
              <a:t>выше скорость реакции и качество обработки заявок</a:t>
            </a:r>
          </a:p>
          <a:p>
            <a:pPr>
              <a:spcAft>
                <a:spcPts val="800"/>
              </a:spcAft>
              <a:defRPr sz="1410">
                <a:solidFill>
                  <a:srgbClr val="1D1F26"/>
                </a:solidFill>
                <a:latin typeface="Aptos"/>
              </a:defRPr>
            </a:pPr>
            <a:r>
              <a:t>меньше потерянных клиентов и больше повторной выручки</a:t>
            </a:r>
          </a:p>
          <a:p>
            <a:pPr>
              <a:spcAft>
                <a:spcPts val="800"/>
              </a:spcAft>
              <a:defRPr sz="1410">
                <a:solidFill>
                  <a:srgbClr val="1D1F26"/>
                </a:solidFill>
                <a:latin typeface="Aptos"/>
              </a:defRPr>
            </a:pPr>
            <a:r>
              <a:t>рост без немедленного расширения штата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9199" y="277200"/>
            <a:ext cx="5637600" cy="6231600"/>
          </a:xfrm>
          <a:prstGeom prst="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99" y="1844150"/>
            <a:ext cx="5508000" cy="30976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000" y="198000"/>
            <a:ext cx="11790000" cy="6462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6000" y="306000"/>
            <a:ext cx="11574000" cy="6246000"/>
          </a:xfrm>
          <a:prstGeom prst="rect">
            <a:avLst/>
          </a:prstGeom>
          <a:solidFill>
            <a:srgbClr val="F5F0E8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6000" y="342000"/>
            <a:ext cx="450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1">
                <a:solidFill>
                  <a:srgbClr val="BF995E"/>
                </a:solidFill>
                <a:latin typeface="Aptos"/>
              </a:rPr>
              <a:t>05  WHY SINTARIS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594000"/>
            <a:ext cx="5256000" cy="79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50" b="1">
                <a:solidFill>
                  <a:srgbClr val="1D1F26"/>
                </a:solidFill>
                <a:latin typeface="Bahnschrift"/>
              </a:rPr>
              <a:t>Не подрядчик по AI. Партнёр по операционному результату.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94000"/>
            <a:ext cx="774000" cy="36000"/>
          </a:xfrm>
          <a:prstGeom prst="rect">
            <a:avLst/>
          </a:prstGeom>
          <a:solidFill>
            <a:srgbClr val="BF995E"/>
          </a:solidFill>
          <a:ln>
            <a:solidFill>
              <a:srgbClr val="BF9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000" y="1692000"/>
            <a:ext cx="5202000" cy="6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30" b="0">
                <a:solidFill>
                  <a:srgbClr val="5C5866"/>
                </a:solidFill>
                <a:latin typeface="Aptos"/>
              </a:rPr>
              <a:t>SINTARIS выбирают тогда, когда бизнесу уже недостаточно ручного управления, но он не готов доверить систему шаблонному решению.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229" y="2687564"/>
            <a:ext cx="5238000" cy="720000"/>
          </a:xfrm>
          <a:prstGeom prst="round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2750564"/>
            <a:ext cx="4896000" cy="3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20" b="1" dirty="0" err="1">
                <a:solidFill>
                  <a:srgbClr val="1D1F26"/>
                </a:solidFill>
                <a:latin typeface="Aptos"/>
              </a:rPr>
              <a:t>Мы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работаем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не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с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поверхностью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, а с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самой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логикой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 </a:t>
            </a:r>
            <a:r>
              <a:rPr sz="1620" b="1" dirty="0" err="1">
                <a:solidFill>
                  <a:srgbClr val="1D1F26"/>
                </a:solidFill>
                <a:latin typeface="Aptos"/>
              </a:rPr>
              <a:t>бизнеса</a:t>
            </a:r>
            <a:r>
              <a:rPr sz="1620" b="1" dirty="0">
                <a:solidFill>
                  <a:srgbClr val="1D1F26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229" y="4153372"/>
            <a:ext cx="5058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соединяем</a:t>
            </a:r>
            <a:r>
              <a:rPr dirty="0"/>
              <a:t> AI-</a:t>
            </a:r>
            <a:r>
              <a:rPr dirty="0" err="1"/>
              <a:t>стратегию</a:t>
            </a:r>
            <a:r>
              <a:rPr dirty="0"/>
              <a:t>, </a:t>
            </a:r>
            <a:r>
              <a:rPr dirty="0" err="1"/>
              <a:t>архитектуру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, </a:t>
            </a:r>
            <a:r>
              <a:rPr dirty="0" err="1"/>
              <a:t>маркетинг</a:t>
            </a:r>
            <a:r>
              <a:rPr dirty="0"/>
              <a:t> и </a:t>
            </a:r>
            <a:r>
              <a:rPr dirty="0" err="1"/>
              <a:t>клиентский</a:t>
            </a:r>
            <a:r>
              <a:rPr dirty="0"/>
              <a:t> </a:t>
            </a:r>
            <a:r>
              <a:rPr dirty="0" err="1"/>
              <a:t>путь</a:t>
            </a:r>
            <a:endParaRPr dirty="0"/>
          </a:p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сохраняем</a:t>
            </a:r>
            <a:r>
              <a:rPr dirty="0"/>
              <a:t> </a:t>
            </a:r>
            <a:r>
              <a:rPr dirty="0" err="1"/>
              <a:t>индивидуальность</a:t>
            </a:r>
            <a:r>
              <a:rPr dirty="0"/>
              <a:t> </a:t>
            </a:r>
            <a:r>
              <a:rPr dirty="0" err="1"/>
              <a:t>бренда</a:t>
            </a:r>
            <a:r>
              <a:rPr dirty="0"/>
              <a:t> и </a:t>
            </a:r>
            <a:r>
              <a:rPr dirty="0" err="1"/>
              <a:t>живую</a:t>
            </a:r>
            <a:r>
              <a:rPr dirty="0"/>
              <a:t> </a:t>
            </a:r>
            <a:r>
              <a:rPr dirty="0" err="1"/>
              <a:t>коммуникацию</a:t>
            </a:r>
            <a:endParaRPr dirty="0"/>
          </a:p>
          <a:p>
            <a:pPr>
              <a:spcAft>
                <a:spcPts val="800"/>
              </a:spcAft>
              <a:defRPr sz="1440">
                <a:solidFill>
                  <a:srgbClr val="1D1F26"/>
                </a:solidFill>
                <a:latin typeface="Aptos"/>
              </a:defRPr>
            </a:pPr>
            <a:r>
              <a:rPr dirty="0" err="1"/>
              <a:t>начинаем</a:t>
            </a:r>
            <a:r>
              <a:rPr dirty="0"/>
              <a:t> с </a:t>
            </a:r>
            <a:r>
              <a:rPr dirty="0" err="1"/>
              <a:t>диагностики</a:t>
            </a:r>
            <a:r>
              <a:rPr dirty="0"/>
              <a:t> и </a:t>
            </a:r>
            <a:r>
              <a:rPr dirty="0" err="1"/>
              <a:t>пилота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масштабируем</a:t>
            </a:r>
            <a:r>
              <a:rPr dirty="0"/>
              <a:t> </a:t>
            </a:r>
            <a:r>
              <a:rPr dirty="0" err="1"/>
              <a:t>результат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109199" y="277200"/>
            <a:ext cx="5637600" cy="6231600"/>
          </a:xfrm>
          <a:prstGeom prst="rect">
            <a:avLst/>
          </a:prstGeom>
          <a:solidFill>
            <a:srgbClr val="FFFBF5"/>
          </a:solidFill>
          <a:ln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rtner_economics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99" y="1327500"/>
            <a:ext cx="5508000" cy="413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Широкоэкранный</PresentationFormat>
  <Paragraphs>44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Arial</vt:lpstr>
      <vt:lpstr>Bahnschrift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I</cp:lastModifiedBy>
  <cp:revision>2</cp:revision>
  <dcterms:created xsi:type="dcterms:W3CDTF">2013-01-27T09:14:16Z</dcterms:created>
  <dcterms:modified xsi:type="dcterms:W3CDTF">2026-04-07T16:22:05Z</dcterms:modified>
  <cp:category/>
</cp:coreProperties>
</file>