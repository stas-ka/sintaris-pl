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698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B7936-60E3-4555-89D4-966BEEB753C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96CCE-A057-45AF-B3DE-5680D32DF17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96CCE-A057-45AF-B3DE-5680D32DF1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5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B37606A3-EAEA-4D5B-A0FD-AAC24C9E889F}"/>
              </a:ext>
            </a:extLst>
          </p:cNvPr>
          <p:cNvGrpSpPr/>
          <p:nvPr/>
        </p:nvGrpSpPr>
        <p:grpSpPr>
          <a:xfrm>
            <a:off x="292608" y="256032"/>
            <a:ext cx="3200400" cy="310896"/>
            <a:chOff x="292608" y="256032"/>
            <a:chExt cx="3200400" cy="310896"/>
          </a:xfrm>
        </p:grpSpPr>
        <p:sp>
          <p:nvSpPr>
            <p:cNvPr id="4" name="Rectangle 3"/>
            <p:cNvSpPr/>
            <p:nvPr/>
          </p:nvSpPr>
          <p:spPr>
            <a:xfrm>
              <a:off x="292608" y="256032"/>
              <a:ext cx="1645920" cy="36576"/>
            </a:xfrm>
            <a:prstGeom prst="rect">
              <a:avLst/>
            </a:prstGeom>
            <a:solidFill>
              <a:srgbClr val="BF9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92608" y="292608"/>
              <a:ext cx="3200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BF995E"/>
                  </a:solidFill>
                </a:rPr>
                <a:t>01   SINTARIS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92608" y="59436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D1F26"/>
                </a:solidFill>
              </a:rPr>
              <a:t>AI-</a:t>
            </a:r>
            <a:r>
              <a:rPr sz="2800" b="1" i="0" dirty="0" err="1">
                <a:solidFill>
                  <a:srgbClr val="1D1F26"/>
                </a:solidFill>
              </a:rPr>
              <a:t>управляемая</a:t>
            </a:r>
            <a:r>
              <a:rPr sz="2800" b="1" i="0" dirty="0">
                <a:solidFill>
                  <a:srgbClr val="1D1F26"/>
                </a:solidFill>
              </a:rPr>
              <a:t> </a:t>
            </a:r>
            <a:r>
              <a:rPr sz="2800" b="1" i="0" dirty="0" err="1">
                <a:solidFill>
                  <a:srgbClr val="1D1F26"/>
                </a:solidFill>
              </a:rPr>
              <a:t>система</a:t>
            </a:r>
            <a:r>
              <a:rPr sz="2800" b="1" i="0" dirty="0">
                <a:solidFill>
                  <a:srgbClr val="1D1F26"/>
                </a:solidFill>
              </a:rPr>
              <a:t> </a:t>
            </a:r>
            <a:r>
              <a:rPr sz="2800" b="1" i="0" dirty="0" err="1">
                <a:solidFill>
                  <a:srgbClr val="1D1F26"/>
                </a:solidFill>
              </a:rPr>
              <a:t>роста</a:t>
            </a:r>
            <a:endParaRPr sz="2800" b="1" i="0" dirty="0">
              <a:solidFill>
                <a:srgbClr val="1D1F2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2608" y="1234440"/>
            <a:ext cx="85528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5C5866"/>
                </a:solidFill>
              </a:rPr>
              <a:t>Превращаем</a:t>
            </a:r>
            <a:r>
              <a:rPr sz="1300" b="0" i="0" dirty="0">
                <a:solidFill>
                  <a:srgbClr val="5C5866"/>
                </a:solidFill>
              </a:rPr>
              <a:t> </a:t>
            </a:r>
            <a:r>
              <a:rPr sz="1300" b="0" i="0" dirty="0" err="1">
                <a:solidFill>
                  <a:srgbClr val="5C5866"/>
                </a:solidFill>
              </a:rPr>
              <a:t>ручное</a:t>
            </a:r>
            <a:r>
              <a:rPr sz="1300" b="0" i="0" dirty="0">
                <a:solidFill>
                  <a:srgbClr val="5C5866"/>
                </a:solidFill>
              </a:rPr>
              <a:t> </a:t>
            </a:r>
            <a:r>
              <a:rPr sz="1300" b="0" i="0" dirty="0" err="1">
                <a:solidFill>
                  <a:srgbClr val="5C5866"/>
                </a:solidFill>
              </a:rPr>
              <a:t>управление</a:t>
            </a:r>
            <a:r>
              <a:rPr sz="1300" b="0" i="0" dirty="0">
                <a:solidFill>
                  <a:srgbClr val="5C5866"/>
                </a:solidFill>
              </a:rPr>
              <a:t> в </a:t>
            </a:r>
            <a:r>
              <a:rPr sz="1300" b="0" i="0" dirty="0" err="1">
                <a:solidFill>
                  <a:srgbClr val="5C5866"/>
                </a:solidFill>
              </a:rPr>
              <a:t>интеллектуальную</a:t>
            </a:r>
            <a:r>
              <a:rPr sz="1300" b="0" i="0" dirty="0">
                <a:solidFill>
                  <a:srgbClr val="5C5866"/>
                </a:solidFill>
              </a:rPr>
              <a:t> </a:t>
            </a:r>
            <a:r>
              <a:rPr sz="1300" b="0" i="0" dirty="0" err="1">
                <a:solidFill>
                  <a:srgbClr val="5C5866"/>
                </a:solidFill>
              </a:rPr>
              <a:t>архитектуру</a:t>
            </a:r>
            <a:r>
              <a:rPr sz="1300" b="0" i="0" dirty="0">
                <a:solidFill>
                  <a:srgbClr val="5C5866"/>
                </a:solidFill>
              </a:rPr>
              <a:t> — </a:t>
            </a:r>
            <a:r>
              <a:rPr sz="1300" b="0" i="0" dirty="0" err="1">
                <a:solidFill>
                  <a:srgbClr val="5C5866"/>
                </a:solidFill>
              </a:rPr>
              <a:t>коммуникации</a:t>
            </a:r>
            <a:r>
              <a:rPr sz="1300" b="0" i="0" dirty="0">
                <a:solidFill>
                  <a:srgbClr val="5C5866"/>
                </a:solidFill>
              </a:rPr>
              <a:t>, </a:t>
            </a:r>
            <a:r>
              <a:rPr sz="1300" b="0" i="0" dirty="0" err="1">
                <a:solidFill>
                  <a:srgbClr val="5C5866"/>
                </a:solidFill>
              </a:rPr>
              <a:t>контент</a:t>
            </a:r>
            <a:r>
              <a:rPr sz="1300" b="0" i="0" dirty="0">
                <a:solidFill>
                  <a:srgbClr val="5C5866"/>
                </a:solidFill>
              </a:rPr>
              <a:t>, </a:t>
            </a:r>
            <a:r>
              <a:rPr sz="1300" b="0" i="0" dirty="0" err="1">
                <a:solidFill>
                  <a:srgbClr val="5C5866"/>
                </a:solidFill>
              </a:rPr>
              <a:t>продажи</a:t>
            </a:r>
            <a:r>
              <a:rPr sz="1300" b="0" i="0" dirty="0">
                <a:solidFill>
                  <a:srgbClr val="5C5866"/>
                </a:solidFill>
              </a:rPr>
              <a:t>, </a:t>
            </a:r>
            <a:r>
              <a:rPr sz="1300" b="0" i="0" dirty="0" err="1">
                <a:solidFill>
                  <a:srgbClr val="5C5866"/>
                </a:solidFill>
              </a:rPr>
              <a:t>базы</a:t>
            </a:r>
            <a:r>
              <a:rPr sz="1300" b="0" i="0" dirty="0">
                <a:solidFill>
                  <a:srgbClr val="5C5866"/>
                </a:solidFill>
              </a:rPr>
              <a:t> </a:t>
            </a:r>
            <a:r>
              <a:rPr sz="1300" b="0" i="0" dirty="0" err="1">
                <a:solidFill>
                  <a:srgbClr val="5C5866"/>
                </a:solidFill>
              </a:rPr>
              <a:t>знаний</a:t>
            </a:r>
            <a:r>
              <a:rPr sz="1300" b="0" i="0" dirty="0">
                <a:solidFill>
                  <a:srgbClr val="5C5866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7" y="1792223"/>
            <a:ext cx="8349956" cy="45719"/>
          </a:xfrm>
          <a:prstGeom prst="rect">
            <a:avLst/>
          </a:prstGeom>
          <a:solidFill>
            <a:srgbClr val="BF9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DCE8967-BA3D-41B0-B525-FE0F2EADE251}"/>
              </a:ext>
            </a:extLst>
          </p:cNvPr>
          <p:cNvGrpSpPr/>
          <p:nvPr/>
        </p:nvGrpSpPr>
        <p:grpSpPr>
          <a:xfrm>
            <a:off x="403647" y="1947672"/>
            <a:ext cx="2418608" cy="2834640"/>
            <a:chOff x="292608" y="1901952"/>
            <a:chExt cx="2418608" cy="2834640"/>
          </a:xfrm>
        </p:grpSpPr>
        <p:sp>
          <p:nvSpPr>
            <p:cNvPr id="9" name="Rounded Rectangle 8"/>
            <p:cNvSpPr/>
            <p:nvPr/>
          </p:nvSpPr>
          <p:spPr>
            <a:xfrm>
              <a:off x="292608" y="1901952"/>
              <a:ext cx="2418608" cy="2834640"/>
            </a:xfrm>
            <a:prstGeom prst="roundRect">
              <a:avLst/>
            </a:prstGeom>
            <a:solidFill>
              <a:srgbClr val="FFFBF5"/>
            </a:solidFill>
            <a:ln w="508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2336" y="1993392"/>
              <a:ext cx="21652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1D1F26"/>
                  </a:solidFill>
                </a:rPr>
                <a:t>🔍  Консалтинг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2336" y="2286000"/>
              <a:ext cx="2142196" cy="27432"/>
            </a:xfrm>
            <a:prstGeom prst="rect">
              <a:avLst/>
            </a:prstGeom>
            <a:solidFill>
              <a:srgbClr val="BF9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2336" y="2350008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Диагностика процессов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2336" y="2569463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Выявление точек потерь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2336" y="2788920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Проектирование архитектуры AI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2336" y="3008376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Стратегия и дорожная карта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2336" y="3227832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Расчёт ROI перед внедрением</a:t>
              </a:r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41A5D731-5DFA-43D4-8E3B-17F46C286E29}"/>
              </a:ext>
            </a:extLst>
          </p:cNvPr>
          <p:cNvGrpSpPr/>
          <p:nvPr/>
        </p:nvGrpSpPr>
        <p:grpSpPr>
          <a:xfrm>
            <a:off x="3158778" y="1947367"/>
            <a:ext cx="2418608" cy="2834640"/>
            <a:chOff x="2359152" y="1901952"/>
            <a:chExt cx="2418608" cy="2834640"/>
          </a:xfrm>
        </p:grpSpPr>
        <p:sp>
          <p:nvSpPr>
            <p:cNvPr id="17" name="Rounded Rectangle 16"/>
            <p:cNvSpPr/>
            <p:nvPr/>
          </p:nvSpPr>
          <p:spPr>
            <a:xfrm>
              <a:off x="2359152" y="1901952"/>
              <a:ext cx="2418608" cy="2834640"/>
            </a:xfrm>
            <a:prstGeom prst="roundRect">
              <a:avLst/>
            </a:prstGeom>
            <a:solidFill>
              <a:srgbClr val="FFFBF5"/>
            </a:solidFill>
            <a:ln w="508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68880" y="1993392"/>
              <a:ext cx="21652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1D1F26"/>
                  </a:solidFill>
                </a:rPr>
                <a:t>⚙️  Персональные решения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468880" y="2286000"/>
              <a:ext cx="2142196" cy="27432"/>
            </a:xfrm>
            <a:prstGeom prst="rect">
              <a:avLst/>
            </a:prstGeom>
            <a:solidFill>
              <a:srgbClr val="BF9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68880" y="2350008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AI Front Desk 24/7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68880" y="2569463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AI Контент-Стратег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68880" y="2788920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AI Рассылки и Follow-up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68880" y="3008376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 dirty="0">
                  <a:solidFill>
                    <a:srgbClr val="5C5866"/>
                  </a:solidFill>
                </a:rPr>
                <a:t>→  AI </a:t>
              </a:r>
              <a:r>
                <a:rPr sz="919" b="0" i="0" dirty="0" err="1">
                  <a:solidFill>
                    <a:srgbClr val="5C5866"/>
                  </a:solidFill>
                </a:rPr>
                <a:t>Ассистент-консультант</a:t>
              </a:r>
              <a:endParaRPr sz="919" b="0" i="0" dirty="0">
                <a:solidFill>
                  <a:srgbClr val="5C5866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468880" y="3227832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AI Справочник по документам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BDA995FB-2BC9-4BD5-A531-2371EDD99EF0}"/>
              </a:ext>
            </a:extLst>
          </p:cNvPr>
          <p:cNvGrpSpPr/>
          <p:nvPr/>
        </p:nvGrpSpPr>
        <p:grpSpPr>
          <a:xfrm>
            <a:off x="6109165" y="1929382"/>
            <a:ext cx="2418608" cy="2834640"/>
            <a:chOff x="4425696" y="1901952"/>
            <a:chExt cx="2418608" cy="2834640"/>
          </a:xfrm>
        </p:grpSpPr>
        <p:sp>
          <p:nvSpPr>
            <p:cNvPr id="25" name="Rounded Rectangle 24"/>
            <p:cNvSpPr/>
            <p:nvPr/>
          </p:nvSpPr>
          <p:spPr>
            <a:xfrm>
              <a:off x="4425696" y="1901952"/>
              <a:ext cx="2418608" cy="2834640"/>
            </a:xfrm>
            <a:prstGeom prst="roundRect">
              <a:avLst/>
            </a:prstGeom>
            <a:solidFill>
              <a:srgbClr val="FFFBF5"/>
            </a:solidFill>
            <a:ln w="508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35424" y="1993392"/>
              <a:ext cx="21652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1D1F26"/>
                  </a:solidFill>
                </a:rPr>
                <a:t>📦  Продукты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35424" y="2286000"/>
              <a:ext cx="2142196" cy="27432"/>
            </a:xfrm>
            <a:prstGeom prst="rect">
              <a:avLst/>
            </a:prstGeom>
            <a:solidFill>
              <a:srgbClr val="BF9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35424" y="2350008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Taris — голосовой AI-ассистент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35424" y="2569463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 dirty="0">
                  <a:solidFill>
                    <a:srgbClr val="5C5866"/>
                  </a:solidFill>
                </a:rPr>
                <a:t>→  AI-</a:t>
              </a:r>
              <a:r>
                <a:rPr sz="919" b="0" i="0" dirty="0" err="1">
                  <a:solidFill>
                    <a:srgbClr val="5C5866"/>
                  </a:solidFill>
                </a:rPr>
                <a:t>ассистент</a:t>
              </a:r>
              <a:r>
                <a:rPr sz="919" b="0" i="0" dirty="0">
                  <a:solidFill>
                    <a:srgbClr val="5C5866"/>
                  </a:solidFill>
                </a:rPr>
                <a:t> </a:t>
              </a:r>
              <a:r>
                <a:rPr sz="919" b="0" i="0" dirty="0" err="1">
                  <a:solidFill>
                    <a:srgbClr val="5C5866"/>
                  </a:solidFill>
                </a:rPr>
                <a:t>для</a:t>
              </a:r>
              <a:r>
                <a:rPr sz="919" b="0" i="0" dirty="0">
                  <a:solidFill>
                    <a:srgbClr val="5C5866"/>
                  </a:solidFill>
                </a:rPr>
                <a:t> </a:t>
              </a:r>
              <a:r>
                <a:rPr sz="919" b="0" i="0" dirty="0" err="1">
                  <a:solidFill>
                    <a:srgbClr val="5C5866"/>
                  </a:solidFill>
                </a:rPr>
                <a:t>бизнеса</a:t>
              </a:r>
              <a:r>
                <a:rPr sz="919" b="0" i="0" dirty="0">
                  <a:solidFill>
                    <a:srgbClr val="5C5866"/>
                  </a:solidFill>
                </a:rPr>
                <a:t> (RAG)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535424" y="2788920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Чат-бот конструктор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35424" y="3008376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AI Нутрициолог, Тренер продаж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535424" y="3227832"/>
              <a:ext cx="2165230" cy="233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19" b="0" i="0">
                  <a:solidFill>
                    <a:srgbClr val="5C5866"/>
                  </a:solidFill>
                </a:rPr>
                <a:t>→  AI Охрана труда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245DE36D-FC07-49FB-8F11-EA691F1B0665}"/>
              </a:ext>
            </a:extLst>
          </p:cNvPr>
          <p:cNvGrpSpPr/>
          <p:nvPr/>
        </p:nvGrpSpPr>
        <p:grpSpPr>
          <a:xfrm>
            <a:off x="292607" y="4910023"/>
            <a:ext cx="8349956" cy="1956816"/>
            <a:chOff x="0" y="4901184"/>
            <a:chExt cx="8349956" cy="1956816"/>
          </a:xfrm>
        </p:grpSpPr>
        <p:sp>
          <p:nvSpPr>
            <p:cNvPr id="33" name="Rectangle 32"/>
            <p:cNvSpPr/>
            <p:nvPr/>
          </p:nvSpPr>
          <p:spPr>
            <a:xfrm>
              <a:off x="0" y="4901184"/>
              <a:ext cx="8349956" cy="1956816"/>
            </a:xfrm>
            <a:prstGeom prst="rect">
              <a:avLst/>
            </a:prstGeom>
            <a:solidFill>
              <a:srgbClr val="FFFB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0" y="4901184"/>
              <a:ext cx="8349956" cy="36576"/>
            </a:xfrm>
            <a:prstGeom prst="rect">
              <a:avLst/>
            </a:prstGeom>
            <a:solidFill>
              <a:srgbClr val="BF9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92608" y="5029200"/>
              <a:ext cx="1883058" cy="16276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65760" y="5120640"/>
              <a:ext cx="17909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604BA4"/>
                  </a:solidFill>
                </a:rPr>
                <a:t>30–70%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65760" y="5632704"/>
              <a:ext cx="1790922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0" i="0">
                  <a:solidFill>
                    <a:srgbClr val="5C5866"/>
                  </a:solidFill>
                </a:rPr>
                <a:t>снижение
ручных операций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915667" y="5029200"/>
              <a:ext cx="1883058" cy="16276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988819" y="5120640"/>
              <a:ext cx="17909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604BA4"/>
                  </a:solidFill>
                </a:rPr>
                <a:t>40–60%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988819" y="5632704"/>
              <a:ext cx="1790922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0" i="0">
                  <a:solidFill>
                    <a:srgbClr val="5C5866"/>
                  </a:solidFill>
                </a:rPr>
                <a:t>снижение
рутинной нагрузки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538727" y="5029200"/>
              <a:ext cx="1883058" cy="16276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611879" y="5120640"/>
              <a:ext cx="17909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604BA4"/>
                  </a:solidFill>
                </a:rPr>
                <a:t>до 80%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11879" y="5632704"/>
              <a:ext cx="1790922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0" i="0">
                  <a:solidFill>
                    <a:srgbClr val="5C5866"/>
                  </a:solidFill>
                </a:rPr>
                <a:t>экономия времени
на типовых задачах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161788" y="5029200"/>
              <a:ext cx="1883058" cy="16276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234940" y="5120640"/>
              <a:ext cx="179092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604BA4"/>
                  </a:solidFill>
                </a:rPr>
                <a:t>1–3 мес.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234940" y="5632704"/>
              <a:ext cx="1790922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0" i="0">
                  <a:solidFill>
                    <a:srgbClr val="5C5866"/>
                  </a:solidFill>
                </a:rPr>
                <a:t>окупаемость
внедрения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92608" y="6473952"/>
              <a:ext cx="1276103" cy="2560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84048" y="6492240"/>
              <a:ext cx="113789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604BA4"/>
                  </a:solidFill>
                </a:rPr>
                <a:t>Стратегия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1415490" y="6473952"/>
              <a:ext cx="1488019" cy="2560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506930" y="6492240"/>
              <a:ext cx="134981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604BA4"/>
                  </a:solidFill>
                </a:rPr>
                <a:t>Архитектура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706624" y="6473952"/>
              <a:ext cx="1276103" cy="2560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98064" y="6492240"/>
              <a:ext cx="113789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604BA4"/>
                  </a:solidFill>
                </a:rPr>
                <a:t>Внедрение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829506" y="6473952"/>
              <a:ext cx="1699935" cy="2560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920946" y="6492240"/>
              <a:ext cx="156172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604BA4"/>
                  </a:solidFill>
                </a:rPr>
                <a:t>Сопровождение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5288889" y="6473952"/>
              <a:ext cx="1911852" cy="256032"/>
            </a:xfrm>
            <a:prstGeom prst="roundRect">
              <a:avLst/>
            </a:prstGeom>
            <a:solidFill>
              <a:srgbClr val="F0E9F7"/>
            </a:solidFill>
            <a:ln w="3810">
              <a:solidFill>
                <a:srgbClr val="DDD4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380329" y="6492240"/>
              <a:ext cx="17736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604BA4"/>
                  </a:solidFill>
                </a:rPr>
                <a:t>Масштабирование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in-menu.png"/>
          <p:cNvPicPr>
            <a:picLocks noChangeAspect="1"/>
          </p:cNvPicPr>
          <p:nvPr/>
        </p:nvPicPr>
        <p:blipFill rotWithShape="1">
          <a:blip r:embed="rId3"/>
          <a:srcRect r="26010"/>
          <a:stretch/>
        </p:blipFill>
        <p:spPr>
          <a:xfrm>
            <a:off x="7317028" y="256032"/>
            <a:ext cx="1725230" cy="2335149"/>
          </a:xfrm>
          <a:prstGeom prst="rect">
            <a:avLst/>
          </a:prstGeom>
        </p:spPr>
      </p:pic>
      <p:pic>
        <p:nvPicPr>
          <p:cNvPr id="4" name="Picture 3" descr="conversation.png"/>
          <p:cNvPicPr>
            <a:picLocks noChangeAspect="1"/>
          </p:cNvPicPr>
          <p:nvPr/>
        </p:nvPicPr>
        <p:blipFill rotWithShape="1">
          <a:blip r:embed="rId4"/>
          <a:srcRect r="12069"/>
          <a:stretch/>
        </p:blipFill>
        <p:spPr>
          <a:xfrm>
            <a:off x="9281160" y="274320"/>
            <a:ext cx="2331720" cy="2051471"/>
          </a:xfrm>
          <a:prstGeom prst="rect">
            <a:avLst/>
          </a:prstGeom>
        </p:spPr>
      </p:pic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5C0239F0-9DDA-4549-B199-808B751DC278}"/>
              </a:ext>
            </a:extLst>
          </p:cNvPr>
          <p:cNvGrpSpPr/>
          <p:nvPr/>
        </p:nvGrpSpPr>
        <p:grpSpPr>
          <a:xfrm>
            <a:off x="6885432" y="3520440"/>
            <a:ext cx="5216372" cy="3175647"/>
            <a:chOff x="6885432" y="3520440"/>
            <a:chExt cx="5216372" cy="3175647"/>
          </a:xfrm>
        </p:grpSpPr>
        <p:sp>
          <p:nvSpPr>
            <p:cNvPr id="5" name="TextBox 4"/>
            <p:cNvSpPr txBox="1"/>
            <p:nvPr/>
          </p:nvSpPr>
          <p:spPr>
            <a:xfrm>
              <a:off x="6885432" y="3520440"/>
              <a:ext cx="21031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/>
                <a:t>🍓 </a:t>
              </a:r>
              <a:r>
                <a:rPr sz="1200" b="1" i="0" dirty="0" err="1"/>
                <a:t>PicoClaw</a:t>
              </a:r>
              <a:endParaRPr sz="1200" b="1" i="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85432" y="3749039"/>
              <a:ext cx="23957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Raspberry Pi · </a:t>
              </a:r>
              <a:r>
                <a:rPr lang="de-DE" sz="1200" dirty="0">
                  <a:solidFill>
                    <a:schemeClr val="accent4">
                      <a:lumMod val="75000"/>
                    </a:schemeClr>
                  </a:solidFill>
                </a:rPr>
                <a:t>mini PC</a:t>
              </a:r>
              <a:r>
                <a:rPr lang="en-US" sz="1200" i="0" dirty="0">
                  <a:solidFill>
                    <a:schemeClr val="accent4">
                      <a:lumMod val="75000"/>
                    </a:schemeClr>
                  </a:solidFill>
                </a:rPr>
                <a:t> ·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Vosk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· Piper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326880" y="3520440"/>
              <a:ext cx="26517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/>
                <a:t>💻 </a:t>
              </a:r>
              <a:r>
                <a:rPr sz="1200" b="1" i="0" dirty="0" err="1"/>
                <a:t>OpenClaw</a:t>
              </a:r>
              <a:endParaRPr sz="1200" b="1" i="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26880" y="3749039"/>
              <a:ext cx="26517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Laptop/PC · faster-whisper ·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Ollama</a:t>
              </a:r>
              <a:endParaRPr sz="1200" i="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85432" y="4114800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/>
                <a:t>АРХИТЕКТУРА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85432" y="4370832"/>
              <a:ext cx="5166360" cy="27432"/>
            </a:xfrm>
            <a:prstGeom prst="rect">
              <a:avLst/>
            </a:prstGeom>
            <a:solidFill>
              <a:srgbClr val="BF9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85432" y="4443984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/>
                <a:t>📱 </a:t>
              </a:r>
              <a:r>
                <a:rPr lang="de-DE" sz="1200" b="1" i="0" dirty="0"/>
                <a:t>UI: </a:t>
              </a:r>
              <a:r>
                <a:rPr sz="1200" b="1" i="0" dirty="0"/>
                <a:t>Telegram</a:t>
              </a:r>
              <a:r>
                <a:rPr sz="1200" i="0" dirty="0"/>
                <a:t>  🌐 </a:t>
              </a:r>
              <a:r>
                <a:rPr sz="1200" b="1" i="0" dirty="0"/>
                <a:t>Web UI  </a:t>
              </a:r>
              <a:r>
                <a:rPr sz="1200" i="0" dirty="0"/>
                <a:t>🎤 </a:t>
              </a:r>
              <a:r>
                <a:rPr sz="1200" b="1" i="0" dirty="0" err="1"/>
                <a:t>Голос</a:t>
              </a:r>
              <a:endParaRPr sz="1200" b="1" i="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85432" y="4773168"/>
              <a:ext cx="52163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        ↓ 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три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канала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→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общий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LLM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бекенд</a:t>
              </a:r>
              <a:endParaRPr sz="1200" i="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85432" y="5102352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🧠 </a:t>
              </a:r>
              <a:r>
                <a:rPr lang="de-DE" sz="1200" b="1" i="0" dirty="0"/>
                <a:t>LLM</a:t>
              </a:r>
              <a:r>
                <a:rPr lang="de-DE" sz="1200" b="1" i="0" dirty="0">
                  <a:solidFill>
                    <a:schemeClr val="accent4">
                      <a:lumMod val="75000"/>
                    </a:schemeClr>
                  </a:solidFill>
                </a:rPr>
                <a:t>:</a:t>
              </a:r>
              <a:r>
                <a:rPr lang="de-DE" sz="1200" i="0" dirty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Ollama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·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OpenAI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· Gemini · llama.cpp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85432" y="5431536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🎙️ </a:t>
              </a:r>
              <a:r>
                <a:rPr sz="1200" b="1" i="0" dirty="0"/>
                <a:t>STT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: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Vosk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/ faster-whisper  🔊 </a:t>
              </a:r>
              <a:r>
                <a:rPr sz="1200" b="1" i="0" dirty="0">
                  <a:solidFill>
                    <a:schemeClr val="accent4">
                      <a:lumMod val="75000"/>
                    </a:schemeClr>
                  </a:solidFill>
                </a:rPr>
                <a:t>TTS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: Piper ONNX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85432" y="5760720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🗄️ </a:t>
              </a:r>
              <a:r>
                <a:rPr lang="de-DE" sz="1200" b="1" i="0" dirty="0"/>
                <a:t>DB</a:t>
              </a:r>
              <a:r>
                <a:rPr lang="de-DE" sz="1200" b="1" i="0" dirty="0">
                  <a:solidFill>
                    <a:schemeClr val="accent4">
                      <a:lumMod val="75000"/>
                    </a:schemeClr>
                  </a:solidFill>
                </a:rPr>
                <a:t>: 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SQLite / 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PostgreSQL+pgvector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· RAG/FTS5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85432" y="6089904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🔐 </a:t>
              </a:r>
              <a:r>
                <a:rPr sz="1200" b="1" i="0" dirty="0"/>
                <a:t>3-layer security 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· JWT auth · RBAC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85432" y="6419088"/>
              <a:ext cx="5166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🔗 </a:t>
              </a:r>
              <a:r>
                <a:rPr sz="1200" b="1" i="0" dirty="0"/>
                <a:t>Skills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sz="1200" b="1" i="0" dirty="0"/>
                <a:t>Hub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: n8n · CRM · MCP (</a:t>
              </a:r>
              <a:r>
                <a:rPr sz="1200" i="0" dirty="0" err="1">
                  <a:solidFill>
                    <a:schemeClr val="accent4">
                      <a:lumMod val="75000"/>
                    </a:schemeClr>
                  </a:solidFill>
                </a:rPr>
                <a:t>OpenClaw</a:t>
              </a:r>
              <a:r>
                <a:rPr sz="1200" i="0" dirty="0">
                  <a:solidFill>
                    <a:schemeClr val="accent4">
                      <a:lumMod val="7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92608" y="256032"/>
            <a:ext cx="1645920" cy="36576"/>
          </a:xfrm>
          <a:prstGeom prst="rect">
            <a:avLst/>
          </a:prstGeom>
          <a:solidFill>
            <a:srgbClr val="BF9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" y="292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F995E"/>
                </a:solidFill>
              </a:rPr>
              <a:t>02   TARIS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594360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D1F26"/>
                </a:solidFill>
              </a:rPr>
              <a:t>Персональный</a:t>
            </a:r>
            <a:r>
              <a:rPr lang="de-DE" sz="2800" b="1" i="0" dirty="0">
                <a:solidFill>
                  <a:srgbClr val="1D1F26"/>
                </a:solidFill>
              </a:rPr>
              <a:t> </a:t>
            </a:r>
            <a:r>
              <a:rPr lang="ru-RU" sz="2800" b="1" i="0" dirty="0">
                <a:solidFill>
                  <a:srgbClr val="1D1F26"/>
                </a:solidFill>
              </a:rPr>
              <a:t>и Бизнес</a:t>
            </a:r>
            <a:r>
              <a:rPr sz="2800" b="1" i="0" dirty="0">
                <a:solidFill>
                  <a:srgbClr val="1D1F26"/>
                </a:solidFill>
              </a:rPr>
              <a:t> AI-</a:t>
            </a:r>
            <a:r>
              <a:rPr sz="2800" b="1" i="0" dirty="0" err="1">
                <a:solidFill>
                  <a:srgbClr val="1D1F26"/>
                </a:solidFill>
              </a:rPr>
              <a:t>ассистент</a:t>
            </a:r>
            <a:endParaRPr sz="2800" b="1" i="0" dirty="0">
              <a:solidFill>
                <a:srgbClr val="1D1F26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2608" y="120700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C5866"/>
                </a:solidFill>
              </a:rPr>
              <a:t>Голос</a:t>
            </a:r>
            <a:r>
              <a:rPr sz="1200" b="0" i="0" dirty="0">
                <a:solidFill>
                  <a:srgbClr val="5C5866"/>
                </a:solidFill>
              </a:rPr>
              <a:t> + Telegram + Web UI · </a:t>
            </a:r>
            <a:r>
              <a:rPr sz="1200" b="0" i="0" dirty="0" err="1">
                <a:solidFill>
                  <a:srgbClr val="5C5866"/>
                </a:solidFill>
              </a:rPr>
              <a:t>Русский</a:t>
            </a:r>
            <a:r>
              <a:rPr sz="1200" b="0" i="0" dirty="0">
                <a:solidFill>
                  <a:srgbClr val="5C5866"/>
                </a:solidFill>
              </a:rPr>
              <a:t> / English / Deutsch · Pi и Laptop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1645920"/>
            <a:ext cx="6217920" cy="36576"/>
          </a:xfrm>
          <a:prstGeom prst="rect">
            <a:avLst/>
          </a:prstGeom>
          <a:solidFill>
            <a:srgbClr val="BF9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1755648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D1F26"/>
                </a:solidFill>
              </a:rPr>
              <a:t>Реализовано</a:t>
            </a:r>
            <a:endParaRPr sz="1200" b="1" i="0" dirty="0">
              <a:solidFill>
                <a:srgbClr val="1D1F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2608" y="2039112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D1F26"/>
                </a:solidFill>
              </a:rPr>
              <a:t>💬  </a:t>
            </a:r>
            <a:r>
              <a:rPr sz="1000" b="1" i="0" dirty="0" err="1">
                <a:solidFill>
                  <a:srgbClr val="1D1F26"/>
                </a:solidFill>
              </a:rPr>
              <a:t>Чат</a:t>
            </a:r>
            <a:r>
              <a:rPr sz="1000" b="1" i="0" dirty="0">
                <a:solidFill>
                  <a:srgbClr val="1D1F26"/>
                </a:solidFill>
              </a:rPr>
              <a:t> с 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1664" y="2069890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Telegram + Web UI, </a:t>
            </a:r>
            <a:r>
              <a:rPr sz="1000" b="0" i="0" dirty="0" err="1">
                <a:solidFill>
                  <a:srgbClr val="5C5866"/>
                </a:solidFill>
              </a:rPr>
              <a:t>мультиязык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" y="2276856"/>
            <a:ext cx="1572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D1F26"/>
                </a:solidFill>
              </a:rPr>
              <a:t>🎙️  </a:t>
            </a:r>
            <a:r>
              <a:rPr sz="1000" b="1" i="0" dirty="0" err="1">
                <a:solidFill>
                  <a:srgbClr val="1D1F26"/>
                </a:solidFill>
              </a:rPr>
              <a:t>Голосовой</a:t>
            </a:r>
            <a:r>
              <a:rPr sz="1000" b="1" i="0" dirty="0">
                <a:solidFill>
                  <a:srgbClr val="1D1F26"/>
                </a:solidFill>
              </a:rPr>
              <a:t> </a:t>
            </a:r>
            <a:r>
              <a:rPr sz="1000" b="1" i="0" dirty="0" err="1">
                <a:solidFill>
                  <a:srgbClr val="1D1F26"/>
                </a:solidFill>
              </a:rPr>
              <a:t>ассистент</a:t>
            </a:r>
            <a:endParaRPr sz="1000" b="1" i="0" dirty="0">
              <a:solidFill>
                <a:srgbClr val="1D1F2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51664" y="2307634"/>
            <a:ext cx="2300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C5866"/>
                </a:solidFill>
              </a:rPr>
              <a:t>Hotword</a:t>
            </a:r>
            <a:r>
              <a:rPr sz="1000" b="0" i="0" dirty="0">
                <a:solidFill>
                  <a:srgbClr val="5C5866"/>
                </a:solidFill>
              </a:rPr>
              <a:t> → STT → LLM → TTS, </a:t>
            </a:r>
            <a:r>
              <a:rPr sz="1000" b="0" i="0" dirty="0" err="1">
                <a:solidFill>
                  <a:srgbClr val="5C5866"/>
                </a:solidFill>
              </a:rPr>
              <a:t>оффлайн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2608" y="2514600"/>
            <a:ext cx="18347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📅  Умный календарь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1663" y="2545378"/>
            <a:ext cx="24295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NL-</a:t>
            </a:r>
            <a:r>
              <a:rPr sz="1000" b="0" i="0" dirty="0" err="1">
                <a:solidFill>
                  <a:srgbClr val="5C5866"/>
                </a:solidFill>
              </a:rPr>
              <a:t>добавление</a:t>
            </a:r>
            <a:r>
              <a:rPr sz="1000" b="0" i="0" dirty="0">
                <a:solidFill>
                  <a:srgbClr val="5C5866"/>
                </a:solidFill>
              </a:rPr>
              <a:t>, </a:t>
            </a:r>
            <a:r>
              <a:rPr sz="1000" b="0" i="0" dirty="0" err="1">
                <a:solidFill>
                  <a:srgbClr val="5C5866"/>
                </a:solidFill>
              </a:rPr>
              <a:t>напоминания</a:t>
            </a:r>
            <a:r>
              <a:rPr sz="1000" b="0" i="0" dirty="0">
                <a:solidFill>
                  <a:srgbClr val="5C5866"/>
                </a:solidFill>
              </a:rPr>
              <a:t>, </a:t>
            </a:r>
            <a:r>
              <a:rPr sz="1000" b="0" i="0" dirty="0" err="1">
                <a:solidFill>
                  <a:srgbClr val="5C5866"/>
                </a:solidFill>
              </a:rPr>
              <a:t>брифинг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" y="2752344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📝  Заметки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1664" y="2783122"/>
            <a:ext cx="2236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C5866"/>
                </a:solidFill>
              </a:rPr>
              <a:t>Создание</a:t>
            </a:r>
            <a:r>
              <a:rPr sz="1000" b="0" i="0" dirty="0">
                <a:solidFill>
                  <a:srgbClr val="5C5866"/>
                </a:solidFill>
              </a:rPr>
              <a:t>, </a:t>
            </a:r>
            <a:r>
              <a:rPr sz="1000" b="0" i="0" dirty="0" err="1">
                <a:solidFill>
                  <a:srgbClr val="5C5866"/>
                </a:solidFill>
              </a:rPr>
              <a:t>редактирование</a:t>
            </a:r>
            <a:r>
              <a:rPr sz="1000" b="0" i="0" dirty="0">
                <a:solidFill>
                  <a:srgbClr val="5C5866"/>
                </a:solidFill>
              </a:rPr>
              <a:t>, </a:t>
            </a:r>
            <a:r>
              <a:rPr sz="1000" b="0" i="0" dirty="0" err="1">
                <a:solidFill>
                  <a:srgbClr val="5C5866"/>
                </a:solidFill>
              </a:rPr>
              <a:t>поиск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" y="2990087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📧  Почта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1664" y="3020865"/>
            <a:ext cx="23005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IMAP-</a:t>
            </a:r>
            <a:r>
              <a:rPr sz="1000" b="0" i="0" dirty="0" err="1">
                <a:solidFill>
                  <a:srgbClr val="5C5866"/>
                </a:solidFill>
              </a:rPr>
              <a:t>дайджест</a:t>
            </a:r>
            <a:r>
              <a:rPr sz="1000" b="0" i="0" dirty="0">
                <a:solidFill>
                  <a:srgbClr val="5C5866"/>
                </a:solidFill>
              </a:rPr>
              <a:t> + AI-</a:t>
            </a:r>
            <a:r>
              <a:rPr sz="1000" b="0" i="0" dirty="0" err="1">
                <a:solidFill>
                  <a:srgbClr val="5C5866"/>
                </a:solidFill>
              </a:rPr>
              <a:t>сводка</a:t>
            </a:r>
            <a:r>
              <a:rPr sz="1000" b="0" i="0" dirty="0">
                <a:solidFill>
                  <a:srgbClr val="5C5866"/>
                </a:solidFill>
              </a:rPr>
              <a:t> + 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3227831"/>
            <a:ext cx="18347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D1F26"/>
                </a:solidFill>
              </a:rPr>
              <a:t>📚  </a:t>
            </a:r>
            <a:r>
              <a:rPr sz="1000" b="1" i="0" dirty="0" err="1">
                <a:solidFill>
                  <a:srgbClr val="1D1F26"/>
                </a:solidFill>
              </a:rPr>
              <a:t>База</a:t>
            </a:r>
            <a:r>
              <a:rPr sz="1000" b="1" i="0" dirty="0">
                <a:solidFill>
                  <a:srgbClr val="1D1F26"/>
                </a:solidFill>
              </a:rPr>
              <a:t> </a:t>
            </a:r>
            <a:r>
              <a:rPr sz="1000" b="1" i="0" dirty="0" err="1">
                <a:solidFill>
                  <a:srgbClr val="1D1F26"/>
                </a:solidFill>
              </a:rPr>
              <a:t>знаний</a:t>
            </a:r>
            <a:r>
              <a:rPr sz="1000" b="1" i="0" dirty="0">
                <a:solidFill>
                  <a:srgbClr val="1D1F26"/>
                </a:solidFill>
              </a:rPr>
              <a:t> (RAG)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64" y="3258609"/>
            <a:ext cx="2236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PDF/DOCX/TXT → </a:t>
            </a:r>
            <a:r>
              <a:rPr sz="1000" b="0" i="0" dirty="0" err="1">
                <a:solidFill>
                  <a:srgbClr val="5C5866"/>
                </a:solidFill>
              </a:rPr>
              <a:t>векторный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поиск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2608" y="3465575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👥  Контакты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1664" y="3496353"/>
            <a:ext cx="1572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5C5866"/>
                </a:solidFill>
              </a:rPr>
              <a:t>Адресная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книга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2608" y="3703319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🌐  Web UI (PWA)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1663" y="3734097"/>
            <a:ext cx="24663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HTTPS, JWT, </a:t>
            </a:r>
            <a:r>
              <a:rPr sz="1000" b="0" i="0" dirty="0" err="1">
                <a:solidFill>
                  <a:srgbClr val="5C5866"/>
                </a:solidFill>
              </a:rPr>
              <a:t>установка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как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приложение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2608" y="3941063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⚙️  Администратор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1664" y="3971841"/>
            <a:ext cx="15727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866"/>
                </a:solidFill>
              </a:rPr>
              <a:t>LLM-пикер, пользователи, голос, логи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4178807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F26"/>
                </a:solidFill>
              </a:rPr>
              <a:t>🔐  Безопасность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51663" y="4209585"/>
            <a:ext cx="23273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3-уровневая </a:t>
            </a:r>
            <a:r>
              <a:rPr sz="1000" b="0" i="0" dirty="0" err="1">
                <a:solidFill>
                  <a:srgbClr val="5C5866"/>
                </a:solidFill>
              </a:rPr>
              <a:t>защита</a:t>
            </a:r>
            <a:r>
              <a:rPr sz="1000" b="0" i="0" dirty="0">
                <a:solidFill>
                  <a:srgbClr val="5C5866"/>
                </a:solidFill>
              </a:rPr>
              <a:t>, prompt injection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5479" y="1746245"/>
            <a:ext cx="141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D1F26"/>
                </a:solidFill>
              </a:rPr>
              <a:t>План</a:t>
            </a:r>
            <a:r>
              <a:rPr sz="1200" b="1" i="0" dirty="0">
                <a:solidFill>
                  <a:srgbClr val="1D1F26"/>
                </a:solidFill>
              </a:rPr>
              <a:t> </a:t>
            </a:r>
            <a:r>
              <a:rPr sz="1200" b="1" i="0" dirty="0" err="1">
                <a:solidFill>
                  <a:srgbClr val="1D1F26"/>
                </a:solidFill>
              </a:rPr>
              <a:t>развития</a:t>
            </a:r>
            <a:endParaRPr sz="1200" b="1" i="0" dirty="0">
              <a:solidFill>
                <a:srgbClr val="1D1F26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418047" y="2039112"/>
            <a:ext cx="943660" cy="210312"/>
          </a:xfrm>
          <a:prstGeom prst="roundRect">
            <a:avLst/>
          </a:prstGeom>
          <a:solidFill>
            <a:srgbClr val="F0E9F7"/>
          </a:solidFill>
          <a:ln w="3810"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4463767" y="2057400"/>
            <a:ext cx="870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/>
              <a:t>Ближайшее</a:t>
            </a:r>
            <a:endParaRPr sz="900" b="1" i="0" dirty="0"/>
          </a:p>
        </p:txBody>
      </p:sp>
      <p:sp>
        <p:nvSpPr>
          <p:cNvPr id="47" name="TextBox 46"/>
          <p:cNvSpPr txBox="1"/>
          <p:nvPr/>
        </p:nvSpPr>
        <p:spPr>
          <a:xfrm>
            <a:off x="4445479" y="2295144"/>
            <a:ext cx="23005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</a:t>
            </a:r>
            <a:r>
              <a:rPr sz="1000" b="0" i="0" dirty="0" err="1">
                <a:solidFill>
                  <a:srgbClr val="5C5866"/>
                </a:solidFill>
              </a:rPr>
              <a:t>Агентская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система</a:t>
            </a:r>
            <a:r>
              <a:rPr sz="1000" b="0" i="0" dirty="0">
                <a:solidFill>
                  <a:srgbClr val="5C5866"/>
                </a:solidFill>
              </a:rPr>
              <a:t> (multi-agent)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5479" y="2505456"/>
            <a:ext cx="21264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</a:t>
            </a:r>
            <a:r>
              <a:rPr sz="1000" b="0" i="0" dirty="0" err="1">
                <a:solidFill>
                  <a:srgbClr val="5C5866"/>
                </a:solidFill>
              </a:rPr>
              <a:t>Интеграция</a:t>
            </a:r>
            <a:r>
              <a:rPr sz="1000" b="0" i="0" dirty="0">
                <a:solidFill>
                  <a:srgbClr val="5C5866"/>
                </a:solidFill>
              </a:rPr>
              <a:t> n8n workflows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5479" y="2715768"/>
            <a:ext cx="20408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</a:t>
            </a:r>
            <a:r>
              <a:rPr sz="1000" b="0" i="0" dirty="0" err="1">
                <a:solidFill>
                  <a:srgbClr val="5C5866"/>
                </a:solidFill>
              </a:rPr>
              <a:t>Планировщик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задач</a:t>
            </a:r>
            <a:r>
              <a:rPr sz="1000" b="0" i="0" dirty="0">
                <a:solidFill>
                  <a:srgbClr val="5C5866"/>
                </a:solidFill>
              </a:rPr>
              <a:t> с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45479" y="2926079"/>
            <a:ext cx="2636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CRM-</a:t>
            </a:r>
            <a:r>
              <a:rPr sz="1000" b="0" i="0" dirty="0" err="1">
                <a:solidFill>
                  <a:srgbClr val="5C5866"/>
                </a:solidFill>
              </a:rPr>
              <a:t>интеграция</a:t>
            </a:r>
            <a:r>
              <a:rPr sz="1000" b="0" i="0" dirty="0">
                <a:solidFill>
                  <a:srgbClr val="5C5866"/>
                </a:solidFill>
              </a:rPr>
              <a:t> (</a:t>
            </a:r>
            <a:r>
              <a:rPr lang="de-DE" sz="1000" b="0" i="0" dirty="0" err="1">
                <a:solidFill>
                  <a:srgbClr val="5C5866"/>
                </a:solidFill>
              </a:rPr>
              <a:t>EspoCRM</a:t>
            </a:r>
            <a:r>
              <a:rPr lang="de-DE" sz="1000" b="0" i="0" dirty="0">
                <a:solidFill>
                  <a:srgbClr val="5C5866"/>
                </a:solidFill>
              </a:rPr>
              <a:t>, </a:t>
            </a:r>
            <a:r>
              <a:rPr sz="1000" b="0" i="0" dirty="0">
                <a:solidFill>
                  <a:srgbClr val="5C5866"/>
                </a:solidFill>
              </a:rPr>
              <a:t>Bitrix24)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18047" y="3209544"/>
            <a:ext cx="1185062" cy="210312"/>
          </a:xfrm>
          <a:prstGeom prst="roundRect">
            <a:avLst/>
          </a:prstGeom>
          <a:solidFill>
            <a:srgbClr val="F0E9F7"/>
          </a:solidFill>
          <a:ln w="3810"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4463767" y="3227832"/>
            <a:ext cx="1111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/>
              <a:t>Среднесрочно</a:t>
            </a:r>
            <a:endParaRPr sz="1000" b="1" i="0" dirty="0"/>
          </a:p>
        </p:txBody>
      </p:sp>
      <p:sp>
        <p:nvSpPr>
          <p:cNvPr id="53" name="TextBox 52"/>
          <p:cNvSpPr txBox="1"/>
          <p:nvPr/>
        </p:nvSpPr>
        <p:spPr>
          <a:xfrm>
            <a:off x="4445479" y="3465576"/>
            <a:ext cx="23005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</a:t>
            </a:r>
            <a:r>
              <a:rPr sz="1000" b="0" i="0" dirty="0" err="1">
                <a:solidFill>
                  <a:srgbClr val="5C5866"/>
                </a:solidFill>
              </a:rPr>
              <a:t>Мобильное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приложение</a:t>
            </a:r>
            <a:r>
              <a:rPr sz="1000" b="0" i="0" dirty="0">
                <a:solidFill>
                  <a:srgbClr val="5C5866"/>
                </a:solidFill>
              </a:rPr>
              <a:t> (PWA+)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5479" y="3675888"/>
            <a:ext cx="21798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</a:t>
            </a:r>
            <a:r>
              <a:rPr sz="1000" b="0" i="0" dirty="0" err="1">
                <a:solidFill>
                  <a:srgbClr val="5C5866"/>
                </a:solidFill>
              </a:rPr>
              <a:t>Анализ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изображений</a:t>
            </a:r>
            <a:r>
              <a:rPr sz="1000" b="0" i="0" dirty="0">
                <a:solidFill>
                  <a:srgbClr val="5C5866"/>
                </a:solidFill>
              </a:rPr>
              <a:t> и </a:t>
            </a:r>
            <a:r>
              <a:rPr sz="1000" b="0" i="0" dirty="0" err="1">
                <a:solidFill>
                  <a:srgbClr val="5C5866"/>
                </a:solidFill>
              </a:rPr>
              <a:t>видео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445479" y="3886200"/>
            <a:ext cx="22072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866"/>
                </a:solidFill>
              </a:rPr>
              <a:t>→  Синхронизация Google Calendar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5479" y="4096512"/>
            <a:ext cx="20408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</a:t>
            </a:r>
            <a:r>
              <a:rPr sz="1000" b="0" i="0" dirty="0" err="1">
                <a:solidFill>
                  <a:srgbClr val="5C5866"/>
                </a:solidFill>
              </a:rPr>
              <a:t>Аналитика</a:t>
            </a:r>
            <a:r>
              <a:rPr sz="1000" b="0" i="0" dirty="0">
                <a:solidFill>
                  <a:srgbClr val="5C5866"/>
                </a:solidFill>
              </a:rPr>
              <a:t> и </a:t>
            </a:r>
            <a:r>
              <a:rPr sz="1000" b="0" i="0" dirty="0" err="1">
                <a:solidFill>
                  <a:srgbClr val="5C5866"/>
                </a:solidFill>
              </a:rPr>
              <a:t>дашборды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418047" y="4379976"/>
            <a:ext cx="1265529" cy="210312"/>
          </a:xfrm>
          <a:prstGeom prst="roundRect">
            <a:avLst/>
          </a:prstGeom>
          <a:solidFill>
            <a:srgbClr val="F0E9F7"/>
          </a:solidFill>
          <a:ln w="3810">
            <a:solidFill>
              <a:srgbClr val="DD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4463767" y="4398264"/>
            <a:ext cx="11923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/>
              <a:t>Стратегически</a:t>
            </a:r>
            <a:endParaRPr sz="1000" b="1" i="0" dirty="0"/>
          </a:p>
        </p:txBody>
      </p:sp>
      <p:sp>
        <p:nvSpPr>
          <p:cNvPr id="59" name="TextBox 58"/>
          <p:cNvSpPr txBox="1"/>
          <p:nvPr/>
        </p:nvSpPr>
        <p:spPr>
          <a:xfrm>
            <a:off x="4445479" y="4636008"/>
            <a:ext cx="20408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White-label SaaS </a:t>
            </a:r>
            <a:r>
              <a:rPr sz="1000" b="0" i="0" dirty="0" err="1">
                <a:solidFill>
                  <a:srgbClr val="5C5866"/>
                </a:solidFill>
              </a:rPr>
              <a:t>платформа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445479" y="4846320"/>
            <a:ext cx="20408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5866"/>
                </a:solidFill>
              </a:rPr>
              <a:t>→  Маркетплейс AI-навыков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5479" y="5056632"/>
            <a:ext cx="22072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C5866"/>
                </a:solidFill>
              </a:rPr>
              <a:t>→  Fine-tune </a:t>
            </a:r>
            <a:r>
              <a:rPr sz="1000" b="0" i="0" dirty="0" err="1">
                <a:solidFill>
                  <a:srgbClr val="5C5866"/>
                </a:solidFill>
              </a:rPr>
              <a:t>на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данных</a:t>
            </a:r>
            <a:r>
              <a:rPr sz="1000" b="0" i="0" dirty="0">
                <a:solidFill>
                  <a:srgbClr val="5C5866"/>
                </a:solidFill>
              </a:rPr>
              <a:t> </a:t>
            </a:r>
            <a:r>
              <a:rPr sz="1000" b="0" i="0" dirty="0" err="1">
                <a:solidFill>
                  <a:srgbClr val="5C5866"/>
                </a:solidFill>
              </a:rPr>
              <a:t>клиентов</a:t>
            </a:r>
            <a:endParaRPr sz="1000" b="0" i="0" dirty="0">
              <a:solidFill>
                <a:srgbClr val="5C5866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0" y="6291072"/>
            <a:ext cx="6629400" cy="56692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0" y="6291072"/>
            <a:ext cx="6629400" cy="36576"/>
          </a:xfrm>
          <a:prstGeom prst="rect">
            <a:avLst/>
          </a:prstGeom>
          <a:solidFill>
            <a:srgbClr val="BF9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2608" y="6345936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4BA4"/>
                </a:solidFill>
              </a:rPr>
              <a:t>T01–T121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608" y="6592824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C5866"/>
                </a:solidFill>
              </a:rPr>
              <a:t>регрессионных тестов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72768" y="6364224"/>
            <a:ext cx="18288" cy="384048"/>
          </a:xfrm>
          <a:prstGeom prst="rect">
            <a:avLst/>
          </a:prstGeom>
          <a:solidFill>
            <a:srgbClr val="DD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91056" y="6345936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604BA4"/>
                </a:solidFill>
              </a:rPr>
              <a:t>8+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91056" y="6592824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C5866"/>
                </a:solidFill>
              </a:rPr>
              <a:t>LLM-провайдеров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71216" y="6364224"/>
            <a:ext cx="18288" cy="384048"/>
          </a:xfrm>
          <a:prstGeom prst="rect">
            <a:avLst/>
          </a:prstGeom>
          <a:solidFill>
            <a:srgbClr val="DD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9503" y="6345936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4BA4"/>
                </a:solidFill>
              </a:rPr>
              <a:t>RU/EN/DE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89503" y="6592824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C5866"/>
                </a:solidFill>
              </a:rPr>
              <a:t>мультиязычность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9664" y="6364224"/>
            <a:ext cx="18288" cy="384048"/>
          </a:xfrm>
          <a:prstGeom prst="rect">
            <a:avLst/>
          </a:prstGeom>
          <a:solidFill>
            <a:srgbClr val="DD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87952" y="6345936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4BA4"/>
                </a:solidFill>
              </a:rPr>
              <a:t>offline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87952" y="6592824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C5866"/>
                </a:solidFill>
              </a:rPr>
              <a:t>STT + TTS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68112" y="6364224"/>
            <a:ext cx="18288" cy="384048"/>
          </a:xfrm>
          <a:prstGeom prst="rect">
            <a:avLst/>
          </a:prstGeom>
          <a:solidFill>
            <a:srgbClr val="DD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0" y="6345936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4BA4"/>
                </a:solidFill>
              </a:rPr>
              <a:t>Pi + PC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6592824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C5866"/>
                </a:solidFill>
              </a:rPr>
              <a:t>варианты развёртки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Benutzerdefiniert</PresentationFormat>
  <Paragraphs>96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/>
  <cp:keywords/>
  <dc:description>generated using python-pptx</dc:description>
  <cp:lastModifiedBy>Stanislav Ulmer</cp:lastModifiedBy>
  <cp:revision>5</cp:revision>
  <dcterms:created xsi:type="dcterms:W3CDTF">2013-01-27T09:14:16Z</dcterms:created>
  <dcterms:modified xsi:type="dcterms:W3CDTF">2026-04-09T15:11:33Z</dcterms:modified>
  <cp:category/>
</cp:coreProperties>
</file>